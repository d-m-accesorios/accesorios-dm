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ans Bold" charset="1" panose="00000000000000000000"/>
      <p:regular r:id="rId13"/>
    </p:embeddedFont>
    <p:embeddedFont>
      <p:font typeface="DM Sans" charset="1" panose="00000000000000000000"/>
      <p:regular r:id="rId14"/>
    </p:embeddedFont>
    <p:embeddedFont>
      <p:font typeface="HK Grotesk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48366"/>
            <a:ext cx="7766361" cy="292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  <a:spcBef>
                <a:spcPct val="0"/>
              </a:spcBef>
            </a:pPr>
            <a:r>
              <a:rPr lang="en-US" b="true" sz="10400" spc="-104" u="none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Design Thinking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52984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0F0D"/>
                </a:solidFill>
                <a:latin typeface="DM Sans"/>
                <a:ea typeface="DM Sans"/>
                <a:cs typeface="DM Sans"/>
                <a:sym typeface="DM Sans"/>
              </a:rPr>
              <a:t>SISTEMAS DISTRIBUIDOS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60853" y="981075"/>
            <a:ext cx="52984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00F0D"/>
                </a:solidFill>
                <a:latin typeface="DM Sans"/>
                <a:ea typeface="DM Sans"/>
                <a:cs typeface="DM Sans"/>
                <a:sym typeface="DM Sans"/>
              </a:rPr>
              <a:t>FEBRUARY 17, 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849542" y="1813105"/>
            <a:ext cx="7414100" cy="10564132"/>
          </a:xfrm>
          <a:custGeom>
            <a:avLst/>
            <a:gdLst/>
            <a:ahLst/>
            <a:cxnLst/>
            <a:rect r="r" b="b" t="t" l="l"/>
            <a:pathLst>
              <a:path h="10564132" w="7414100">
                <a:moveTo>
                  <a:pt x="0" y="0"/>
                </a:moveTo>
                <a:lnTo>
                  <a:pt x="7414100" y="0"/>
                </a:lnTo>
                <a:lnTo>
                  <a:pt x="7414100" y="10564132"/>
                </a:lnTo>
                <a:lnTo>
                  <a:pt x="0" y="10564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63600" y="7727853"/>
            <a:ext cx="7586018" cy="2093671"/>
            <a:chOff x="0" y="0"/>
            <a:chExt cx="1585812" cy="437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5812" cy="437670"/>
            </a:xfrm>
            <a:custGeom>
              <a:avLst/>
              <a:gdLst/>
              <a:ahLst/>
              <a:cxnLst/>
              <a:rect r="r" b="b" t="t" l="l"/>
              <a:pathLst>
                <a:path h="437670" w="1585812">
                  <a:moveTo>
                    <a:pt x="95932" y="0"/>
                  </a:moveTo>
                  <a:lnTo>
                    <a:pt x="1489880" y="0"/>
                  </a:lnTo>
                  <a:cubicBezTo>
                    <a:pt x="1515323" y="0"/>
                    <a:pt x="1539724" y="10107"/>
                    <a:pt x="1557715" y="28098"/>
                  </a:cubicBezTo>
                  <a:cubicBezTo>
                    <a:pt x="1575705" y="46088"/>
                    <a:pt x="1585812" y="70489"/>
                    <a:pt x="1585812" y="95932"/>
                  </a:cubicBezTo>
                  <a:lnTo>
                    <a:pt x="1585812" y="341738"/>
                  </a:lnTo>
                  <a:cubicBezTo>
                    <a:pt x="1585812" y="367180"/>
                    <a:pt x="1575705" y="391581"/>
                    <a:pt x="1557715" y="409572"/>
                  </a:cubicBezTo>
                  <a:cubicBezTo>
                    <a:pt x="1539724" y="427563"/>
                    <a:pt x="1515323" y="437670"/>
                    <a:pt x="1489880" y="437670"/>
                  </a:cubicBezTo>
                  <a:lnTo>
                    <a:pt x="95932" y="437670"/>
                  </a:lnTo>
                  <a:cubicBezTo>
                    <a:pt x="70489" y="437670"/>
                    <a:pt x="46088" y="427563"/>
                    <a:pt x="28098" y="409572"/>
                  </a:cubicBezTo>
                  <a:cubicBezTo>
                    <a:pt x="10107" y="391581"/>
                    <a:pt x="0" y="367180"/>
                    <a:pt x="0" y="341738"/>
                  </a:cubicBezTo>
                  <a:lnTo>
                    <a:pt x="0" y="95932"/>
                  </a:lnTo>
                  <a:cubicBezTo>
                    <a:pt x="0" y="70489"/>
                    <a:pt x="10107" y="46088"/>
                    <a:pt x="28098" y="28098"/>
                  </a:cubicBezTo>
                  <a:cubicBezTo>
                    <a:pt x="46088" y="10107"/>
                    <a:pt x="70489" y="0"/>
                    <a:pt x="95932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585812" cy="49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Dayana Motta</a:t>
              </a:r>
            </a:p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Sergio Losada</a:t>
              </a:r>
            </a:p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Dany Campos</a:t>
              </a:r>
            </a:p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Sebastian Agudelo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3897" y="2392753"/>
            <a:ext cx="14440205" cy="7323487"/>
          </a:xfrm>
          <a:custGeom>
            <a:avLst/>
            <a:gdLst/>
            <a:ahLst/>
            <a:cxnLst/>
            <a:rect r="r" b="b" t="t" l="l"/>
            <a:pathLst>
              <a:path h="7323487" w="14440205">
                <a:moveTo>
                  <a:pt x="0" y="0"/>
                </a:moveTo>
                <a:lnTo>
                  <a:pt x="14440206" y="0"/>
                </a:lnTo>
                <a:lnTo>
                  <a:pt x="14440206" y="7323487"/>
                </a:lnTo>
                <a:lnTo>
                  <a:pt x="0" y="7323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017" r="0" b="-134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94474" y="4081004"/>
            <a:ext cx="3783911" cy="378391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094474" y="4261085"/>
            <a:ext cx="3377657" cy="2530172"/>
          </a:xfrm>
          <a:custGeom>
            <a:avLst/>
            <a:gdLst/>
            <a:ahLst/>
            <a:cxnLst/>
            <a:rect r="r" b="b" t="t" l="l"/>
            <a:pathLst>
              <a:path h="2530172" w="3377657">
                <a:moveTo>
                  <a:pt x="0" y="0"/>
                </a:moveTo>
                <a:lnTo>
                  <a:pt x="3377657" y="0"/>
                </a:lnTo>
                <a:lnTo>
                  <a:pt x="3377657" y="2530172"/>
                </a:lnTo>
                <a:lnTo>
                  <a:pt x="0" y="2530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06232"/>
            <a:ext cx="7287696" cy="244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true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Fas</a:t>
            </a:r>
            <a:r>
              <a:rPr lang="en-US" b="true" sz="7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 1: Empatizar</a:t>
            </a:r>
          </a:p>
          <a:p>
            <a:pPr algn="l">
              <a:lnSpc>
                <a:spcPts val="9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343328" y="1489154"/>
            <a:ext cx="4071104" cy="64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Mapa de empatía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94313" y="1902915"/>
            <a:ext cx="7699374" cy="6138227"/>
            <a:chOff x="0" y="0"/>
            <a:chExt cx="10265832" cy="818430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61925"/>
              <a:ext cx="10265832" cy="3675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b="true" sz="8000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</a:t>
              </a:r>
              <a:r>
                <a:rPr lang="en-US" b="true" sz="8000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ase 2: Definir</a:t>
              </a:r>
            </a:p>
            <a:p>
              <a:pPr algn="ctr">
                <a:lnSpc>
                  <a:spcPts val="112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59580"/>
              <a:ext cx="10265832" cy="392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El d</a:t>
              </a:r>
              <a:r>
                <a:rPr lang="en-US" sz="2799" u="none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ueño de Accesorios D&amp;M necesita un sistema centralizado para gestionar pedidos e inventario, porque actualmente el manejo manual mediante mensajes genera desorganización, errores en disponibilidad y dificultad para escalar el negocio.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99507" y="1583929"/>
            <a:ext cx="4773364" cy="10418057"/>
          </a:xfrm>
          <a:custGeom>
            <a:avLst/>
            <a:gdLst/>
            <a:ahLst/>
            <a:cxnLst/>
            <a:rect r="r" b="b" t="t" l="l"/>
            <a:pathLst>
              <a:path h="10418057" w="4773364">
                <a:moveTo>
                  <a:pt x="0" y="0"/>
                </a:moveTo>
                <a:lnTo>
                  <a:pt x="4773364" y="0"/>
                </a:lnTo>
                <a:lnTo>
                  <a:pt x="4773364" y="10418057"/>
                </a:lnTo>
                <a:lnTo>
                  <a:pt x="0" y="10418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1583929"/>
            <a:ext cx="4687182" cy="11825459"/>
          </a:xfrm>
          <a:custGeom>
            <a:avLst/>
            <a:gdLst/>
            <a:ahLst/>
            <a:cxnLst/>
            <a:rect r="r" b="b" t="t" l="l"/>
            <a:pathLst>
              <a:path h="11825459" w="4687182">
                <a:moveTo>
                  <a:pt x="4687182" y="0"/>
                </a:moveTo>
                <a:lnTo>
                  <a:pt x="0" y="0"/>
                </a:lnTo>
                <a:lnTo>
                  <a:pt x="0" y="11825459"/>
                </a:lnTo>
                <a:lnTo>
                  <a:pt x="4687182" y="11825459"/>
                </a:lnTo>
                <a:lnTo>
                  <a:pt x="46871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22826" y="3213753"/>
            <a:ext cx="4570571" cy="131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  <a:p>
            <a:pPr algn="l">
              <a:lnSpc>
                <a:spcPts val="53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999" y="693921"/>
            <a:ext cx="7699374" cy="3661727"/>
            <a:chOff x="0" y="0"/>
            <a:chExt cx="10265832" cy="488230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61925"/>
              <a:ext cx="10265832" cy="3675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b="true" sz="8000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</a:t>
              </a:r>
              <a:r>
                <a:rPr lang="en-US" b="true" sz="8000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ase 3: Idear</a:t>
              </a:r>
            </a:p>
            <a:p>
              <a:pPr algn="ctr">
                <a:lnSpc>
                  <a:spcPts val="112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59580"/>
              <a:ext cx="1026583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26218" y="2268928"/>
            <a:ext cx="11639087" cy="7169452"/>
            <a:chOff x="0" y="0"/>
            <a:chExt cx="6248452" cy="3848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48452" cy="3848926"/>
            </a:xfrm>
            <a:custGeom>
              <a:avLst/>
              <a:gdLst/>
              <a:ahLst/>
              <a:cxnLst/>
              <a:rect r="r" b="b" t="t" l="l"/>
              <a:pathLst>
                <a:path h="3848926" w="6248452">
                  <a:moveTo>
                    <a:pt x="14634" y="0"/>
                  </a:moveTo>
                  <a:lnTo>
                    <a:pt x="6233819" y="0"/>
                  </a:lnTo>
                  <a:cubicBezTo>
                    <a:pt x="6237700" y="0"/>
                    <a:pt x="6241422" y="1542"/>
                    <a:pt x="6244166" y="4286"/>
                  </a:cubicBezTo>
                  <a:cubicBezTo>
                    <a:pt x="6246911" y="7030"/>
                    <a:pt x="6248452" y="10753"/>
                    <a:pt x="6248452" y="14634"/>
                  </a:cubicBezTo>
                  <a:lnTo>
                    <a:pt x="6248452" y="3834292"/>
                  </a:lnTo>
                  <a:cubicBezTo>
                    <a:pt x="6248452" y="3838173"/>
                    <a:pt x="6246911" y="3841895"/>
                    <a:pt x="6244166" y="3844639"/>
                  </a:cubicBezTo>
                  <a:cubicBezTo>
                    <a:pt x="6241422" y="3847384"/>
                    <a:pt x="6237700" y="3848926"/>
                    <a:pt x="6233819" y="3848926"/>
                  </a:cubicBezTo>
                  <a:lnTo>
                    <a:pt x="14634" y="3848926"/>
                  </a:lnTo>
                  <a:cubicBezTo>
                    <a:pt x="10753" y="3848926"/>
                    <a:pt x="7030" y="3847384"/>
                    <a:pt x="4286" y="3844639"/>
                  </a:cubicBezTo>
                  <a:cubicBezTo>
                    <a:pt x="1542" y="3841895"/>
                    <a:pt x="0" y="3838173"/>
                    <a:pt x="0" y="3834292"/>
                  </a:cubicBezTo>
                  <a:lnTo>
                    <a:pt x="0" y="14634"/>
                  </a:lnTo>
                  <a:cubicBezTo>
                    <a:pt x="0" y="10753"/>
                    <a:pt x="1542" y="7030"/>
                    <a:pt x="4286" y="4286"/>
                  </a:cubicBezTo>
                  <a:cubicBezTo>
                    <a:pt x="7030" y="1542"/>
                    <a:pt x="10753" y="0"/>
                    <a:pt x="14634" y="0"/>
                  </a:cubicBezTo>
                  <a:close/>
                </a:path>
              </a:pathLst>
            </a:custGeom>
            <a:solidFill>
              <a:srgbClr val="D2D5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6248452" cy="387750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397228" y="2002351"/>
            <a:ext cx="3495994" cy="6867131"/>
          </a:xfrm>
          <a:custGeom>
            <a:avLst/>
            <a:gdLst/>
            <a:ahLst/>
            <a:cxnLst/>
            <a:rect r="r" b="b" t="t" l="l"/>
            <a:pathLst>
              <a:path h="6867131" w="3495994">
                <a:moveTo>
                  <a:pt x="0" y="0"/>
                </a:moveTo>
                <a:lnTo>
                  <a:pt x="3495994" y="0"/>
                </a:lnTo>
                <a:lnTo>
                  <a:pt x="3495994" y="6867132"/>
                </a:lnTo>
                <a:lnTo>
                  <a:pt x="0" y="6867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70241" y="2806732"/>
            <a:ext cx="9366264" cy="592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Catálogo de productos con precio, disponibilidad, imagen y descripción.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Menú por categorías.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Carrito de compras editable y persistente.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Registro de Usuario.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Proceso de pago.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Historial de compras.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Gestión de inventario en tiempo real.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Estado de pedido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Integración con whatsapp para SAC.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Cálculo Automático de Envío.</a:t>
            </a:r>
          </a:p>
          <a:p>
            <a:pPr algn="l" marL="612305" indent="-306152" lvl="1">
              <a:lnSpc>
                <a:spcPts val="3970"/>
              </a:lnSpc>
              <a:buFont typeface="Arial"/>
              <a:buChar char="•"/>
            </a:pPr>
            <a:r>
              <a:rPr lang="en-US" sz="2836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CMS para el administrador.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24466"/>
            <a:ext cx="7766361" cy="437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  <a:spcBef>
                <a:spcPct val="0"/>
              </a:spcBef>
            </a:pPr>
            <a:r>
              <a:rPr lang="en-US" b="true" sz="10400" spc="-104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Pr</a:t>
            </a:r>
            <a:r>
              <a:rPr lang="en-US" b="true" sz="10400" spc="-104" u="none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iorización MoSCoW</a:t>
            </a:r>
          </a:p>
          <a:p>
            <a:pPr algn="l" marL="0" indent="0" lvl="0">
              <a:lnSpc>
                <a:spcPts val="1144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52984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0F0D"/>
                </a:solidFill>
                <a:latin typeface="DM Sans"/>
                <a:ea typeface="DM Sans"/>
                <a:cs typeface="DM Sans"/>
                <a:sym typeface="DM Sans"/>
              </a:rPr>
              <a:t>SISTEMAS DISTRIBUIDOS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60853" y="981075"/>
            <a:ext cx="52984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00F0D"/>
                </a:solidFill>
                <a:latin typeface="DM Sans"/>
                <a:ea typeface="DM Sans"/>
                <a:cs typeface="DM Sans"/>
                <a:sym typeface="DM Sans"/>
              </a:rPr>
              <a:t>FEBRUARY 17, 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849542" y="1813105"/>
            <a:ext cx="7414100" cy="10564132"/>
          </a:xfrm>
          <a:custGeom>
            <a:avLst/>
            <a:gdLst/>
            <a:ahLst/>
            <a:cxnLst/>
            <a:rect r="r" b="b" t="t" l="l"/>
            <a:pathLst>
              <a:path h="10564132" w="7414100">
                <a:moveTo>
                  <a:pt x="0" y="0"/>
                </a:moveTo>
                <a:lnTo>
                  <a:pt x="7414100" y="0"/>
                </a:lnTo>
                <a:lnTo>
                  <a:pt x="7414100" y="10564132"/>
                </a:lnTo>
                <a:lnTo>
                  <a:pt x="0" y="10564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474679"/>
          <a:ext cx="16211550" cy="8233860"/>
        </p:xfrm>
        <a:graphic>
          <a:graphicData uri="http://schemas.openxmlformats.org/drawingml/2006/table">
            <a:tbl>
              <a:tblPr/>
              <a:tblGrid>
                <a:gridCol w="2960360"/>
                <a:gridCol w="4827555"/>
                <a:gridCol w="8423635"/>
              </a:tblGrid>
              <a:tr h="13054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Prioridad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5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Funcionalidad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Jusificación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F8E"/>
                    </a:solidFill>
                  </a:tcPr>
                </a:tc>
              </a:tr>
              <a:tr h="975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313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Catálogo de productos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 la vitrina dígital del negocio sin él no hay venta.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83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313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Carrito de compras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Permite agrupar múltiples accesorios en una sola compra.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83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313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Proceso de pago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 el cierre de la venta y la generación de ingresos.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83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313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CMS para el administrador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Permite al dueño actualizar productos sin saber programar.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83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75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Should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Menu por categorias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Ayuda a los clientes a navegar la variedad de productos.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83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75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Should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Gestión de inventario en tiempo real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Evita la sobreventa de productos con stock limitado.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0368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75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Should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Calculo automatico de envio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Reduce el abandono del carrito al mostrar el costo final.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5372102" y="6347383"/>
            <a:ext cx="5215588" cy="8486904"/>
          </a:xfrm>
          <a:custGeom>
            <a:avLst/>
            <a:gdLst/>
            <a:ahLst/>
            <a:cxnLst/>
            <a:rect r="r" b="b" t="t" l="l"/>
            <a:pathLst>
              <a:path h="8486904" w="5215588">
                <a:moveTo>
                  <a:pt x="0" y="0"/>
                </a:moveTo>
                <a:lnTo>
                  <a:pt x="5215588" y="0"/>
                </a:lnTo>
                <a:lnTo>
                  <a:pt x="5215588" y="8486905"/>
                </a:lnTo>
                <a:lnTo>
                  <a:pt x="0" y="848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766062"/>
          <a:ext cx="16211550" cy="5145564"/>
        </p:xfrm>
        <a:graphic>
          <a:graphicData uri="http://schemas.openxmlformats.org/drawingml/2006/table">
            <a:tbl>
              <a:tblPr/>
              <a:tblGrid>
                <a:gridCol w="2960360"/>
                <a:gridCol w="4827555"/>
                <a:gridCol w="8423635"/>
              </a:tblGrid>
              <a:tr h="1284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Prioridad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5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Funcionalidad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Jusificación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F8E"/>
                    </a:solidFill>
                  </a:tcPr>
                </a:tc>
              </a:tr>
              <a:tr h="9598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4AAD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Registro de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Ayuda a fidelizar, pero no es necesario para la primera compra.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67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4AAD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Historial de compras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Aporta comodidad al cliente recurrente, no al nuevo.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67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Won't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Estado de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 puede reemplazar con notificaciones por email/WhatsApp.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67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Won't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Integración con whatsapp para SAC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 simple botón de contacto es suficiente para empezar.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5484652" y="4591608"/>
            <a:ext cx="5215588" cy="8486904"/>
          </a:xfrm>
          <a:custGeom>
            <a:avLst/>
            <a:gdLst/>
            <a:ahLst/>
            <a:cxnLst/>
            <a:rect r="r" b="b" t="t" l="l"/>
            <a:pathLst>
              <a:path h="8486904" w="5215588">
                <a:moveTo>
                  <a:pt x="0" y="0"/>
                </a:moveTo>
                <a:lnTo>
                  <a:pt x="5215588" y="0"/>
                </a:lnTo>
                <a:lnTo>
                  <a:pt x="5215588" y="8486905"/>
                </a:lnTo>
                <a:lnTo>
                  <a:pt x="0" y="848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DAHBhHpqtSk</dc:identifier>
  <dcterms:modified xsi:type="dcterms:W3CDTF">2011-08-01T06:04:30Z</dcterms:modified>
  <cp:revision>1</cp:revision>
  <dc:title>SistemasDistribuidos.</dc:title>
</cp:coreProperties>
</file>