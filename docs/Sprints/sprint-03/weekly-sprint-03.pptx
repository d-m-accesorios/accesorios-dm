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</p:sldIdLst>
  <p:sldSz cx="18288000" cy="10287000"/>
  <p:notesSz cx="6858000" cy="9144000"/>
  <p:embeddedFontLst>
    <p:embeddedFont>
      <p:font typeface="Futura Bold" charset="1" panose="020B0802020204020204"/>
      <p:regular r:id="rId12"/>
    </p:embeddedFont>
    <p:embeddedFont>
      <p:font typeface="Futura Medium" charset="1" panose="020B0502020204020303"/>
      <p:regular r:id="rId13"/>
    </p:embeddedFont>
    <p:embeddedFont>
      <p:font typeface="Futura" charset="1" panose="020B0502020204020303"/>
      <p:regular r:id="rId14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fonts/font12.fntdata" Type="http://schemas.openxmlformats.org/officeDocument/2006/relationships/font"/><Relationship Id="rId13" Target="fonts/font13.fntdata" Type="http://schemas.openxmlformats.org/officeDocument/2006/relationships/font"/><Relationship Id="rId14" Target="fonts/font14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5.png" Type="http://schemas.openxmlformats.org/officeDocument/2006/relationships/image"/><Relationship Id="rId5" Target="../media/image6.sv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8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5.png" Type="http://schemas.openxmlformats.org/officeDocument/2006/relationships/image"/><Relationship Id="rId5" Target="../media/image6.sv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9.png" Type="http://schemas.openxmlformats.org/officeDocument/2006/relationships/image"/><Relationship Id="rId5" Target="../media/image10.sv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7580272">
            <a:off x="-3800695" y="4015066"/>
            <a:ext cx="10422685" cy="8641353"/>
          </a:xfrm>
          <a:custGeom>
            <a:avLst/>
            <a:gdLst/>
            <a:ahLst/>
            <a:cxnLst/>
            <a:rect r="r" b="b" t="t" l="l"/>
            <a:pathLst>
              <a:path h="8641353" w="10422685">
                <a:moveTo>
                  <a:pt x="0" y="0"/>
                </a:moveTo>
                <a:lnTo>
                  <a:pt x="10422685" y="0"/>
                </a:lnTo>
                <a:lnTo>
                  <a:pt x="10422685" y="8641353"/>
                </a:lnTo>
                <a:lnTo>
                  <a:pt x="0" y="864135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3" id="3"/>
          <p:cNvSpPr/>
          <p:nvPr/>
        </p:nvSpPr>
        <p:spPr>
          <a:xfrm flipH="false" flipV="false" rot="0">
            <a:off x="1520955" y="1468149"/>
            <a:ext cx="8233983" cy="7350701"/>
          </a:xfrm>
          <a:custGeom>
            <a:avLst/>
            <a:gdLst/>
            <a:ahLst/>
            <a:cxnLst/>
            <a:rect r="r" b="b" t="t" l="l"/>
            <a:pathLst>
              <a:path h="7350701" w="8233983">
                <a:moveTo>
                  <a:pt x="0" y="0"/>
                </a:moveTo>
                <a:lnTo>
                  <a:pt x="8233983" y="0"/>
                </a:lnTo>
                <a:lnTo>
                  <a:pt x="8233983" y="7350702"/>
                </a:lnTo>
                <a:lnTo>
                  <a:pt x="0" y="735070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10863380" y="3722708"/>
            <a:ext cx="6395920" cy="18909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056"/>
              </a:lnSpc>
            </a:pPr>
            <a:r>
              <a:rPr lang="en-US" sz="5600" b="true">
                <a:solidFill>
                  <a:srgbClr val="000000"/>
                </a:solidFill>
                <a:latin typeface="Futura Bold"/>
                <a:ea typeface="Futura Bold"/>
                <a:cs typeface="Futura Bold"/>
                <a:sym typeface="Futura Bold"/>
              </a:rPr>
              <a:t>E-commerce Accesorios D&amp;M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0863380" y="5861261"/>
            <a:ext cx="5870061" cy="174840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68"/>
              </a:lnSpc>
            </a:pPr>
            <a:r>
              <a:rPr lang="en-US" sz="1800" b="true">
                <a:solidFill>
                  <a:srgbClr val="000000"/>
                </a:solidFill>
                <a:latin typeface="Futura Medium"/>
                <a:ea typeface="Futura Medium"/>
                <a:cs typeface="Futura Medium"/>
                <a:sym typeface="Futura Medium"/>
              </a:rPr>
              <a:t>Integrantes</a:t>
            </a:r>
          </a:p>
          <a:p>
            <a:pPr algn="l" marL="388620" indent="-194310" lvl="1">
              <a:lnSpc>
                <a:spcPts val="2268"/>
              </a:lnSpc>
              <a:buAutoNum type="arabicPeriod" startAt="1"/>
            </a:pPr>
            <a:r>
              <a:rPr lang="en-US" sz="1800">
                <a:solidFill>
                  <a:srgbClr val="000000"/>
                </a:solidFill>
                <a:latin typeface="Futura"/>
                <a:ea typeface="Futura"/>
                <a:cs typeface="Futura"/>
                <a:sym typeface="Futura"/>
              </a:rPr>
              <a:t>Dayana Motta Camayo</a:t>
            </a:r>
          </a:p>
          <a:p>
            <a:pPr algn="l" marL="388620" indent="-194310" lvl="1">
              <a:lnSpc>
                <a:spcPts val="2268"/>
              </a:lnSpc>
              <a:buAutoNum type="arabicPeriod" startAt="1"/>
            </a:pPr>
            <a:r>
              <a:rPr lang="en-US" sz="1800">
                <a:solidFill>
                  <a:srgbClr val="000000"/>
                </a:solidFill>
                <a:latin typeface="Futura"/>
                <a:ea typeface="Futura"/>
                <a:cs typeface="Futura"/>
                <a:sym typeface="Futura"/>
              </a:rPr>
              <a:t>Juan Sebastian Agudelo Quintero</a:t>
            </a:r>
          </a:p>
          <a:p>
            <a:pPr algn="l" marL="388620" indent="-194310" lvl="1">
              <a:lnSpc>
                <a:spcPts val="2268"/>
              </a:lnSpc>
              <a:buAutoNum type="arabicPeriod" startAt="1"/>
            </a:pPr>
            <a:r>
              <a:rPr lang="en-US" sz="1800">
                <a:solidFill>
                  <a:srgbClr val="000000"/>
                </a:solidFill>
                <a:latin typeface="Futura"/>
                <a:ea typeface="Futura"/>
                <a:cs typeface="Futura"/>
                <a:sym typeface="Futura"/>
              </a:rPr>
              <a:t>Dany Yulieth Campos Bustos</a:t>
            </a:r>
          </a:p>
          <a:p>
            <a:pPr algn="l" marL="388620" indent="-194310" lvl="1">
              <a:lnSpc>
                <a:spcPts val="2268"/>
              </a:lnSpc>
              <a:buAutoNum type="arabicPeriod" startAt="1"/>
            </a:pPr>
            <a:r>
              <a:rPr lang="en-US" sz="1800">
                <a:solidFill>
                  <a:srgbClr val="000000"/>
                </a:solidFill>
                <a:latin typeface="Futura"/>
                <a:ea typeface="Futura"/>
                <a:cs typeface="Futura"/>
                <a:sym typeface="Futura"/>
              </a:rPr>
              <a:t>Sergio Andres Losada Bahamón</a:t>
            </a:r>
          </a:p>
          <a:p>
            <a:pPr algn="l">
              <a:lnSpc>
                <a:spcPts val="2268"/>
              </a:lnSpc>
            </a:pPr>
          </a:p>
        </p:txBody>
      </p:sp>
      <p:sp>
        <p:nvSpPr>
          <p:cNvPr name="TextBox 6" id="6"/>
          <p:cNvSpPr txBox="true"/>
          <p:nvPr/>
        </p:nvSpPr>
        <p:spPr>
          <a:xfrm rot="0">
            <a:off x="11308470" y="2355525"/>
            <a:ext cx="4526720" cy="12147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605"/>
              </a:lnSpc>
            </a:pPr>
            <a:r>
              <a:rPr lang="en-US" sz="6829">
                <a:solidFill>
                  <a:srgbClr val="FFFFFF"/>
                </a:solidFill>
                <a:latin typeface="Futura"/>
                <a:ea typeface="Futura"/>
                <a:cs typeface="Futura"/>
                <a:sym typeface="Futura"/>
              </a:rPr>
              <a:t>WEEKLY 3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943079" y="412835"/>
            <a:ext cx="7480425" cy="8953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300"/>
              </a:lnSpc>
            </a:pPr>
            <a:r>
              <a:rPr lang="en-US" sz="5000" b="true">
                <a:solidFill>
                  <a:srgbClr val="000000"/>
                </a:solidFill>
                <a:latin typeface="Futura Bold"/>
                <a:ea typeface="Futura Bold"/>
                <a:cs typeface="Futura Bold"/>
                <a:sym typeface="Futura Bold"/>
              </a:rPr>
              <a:t>Objetivo del Sprint</a:t>
            </a:r>
          </a:p>
        </p:txBody>
      </p:sp>
      <p:sp>
        <p:nvSpPr>
          <p:cNvPr name="Freeform 3" id="3"/>
          <p:cNvSpPr/>
          <p:nvPr/>
        </p:nvSpPr>
        <p:spPr>
          <a:xfrm flipH="false" flipV="false" rot="10433869">
            <a:off x="10818460" y="6841391"/>
            <a:ext cx="8520165" cy="7063992"/>
          </a:xfrm>
          <a:custGeom>
            <a:avLst/>
            <a:gdLst/>
            <a:ahLst/>
            <a:cxnLst/>
            <a:rect r="r" b="b" t="t" l="l"/>
            <a:pathLst>
              <a:path h="7063992" w="8520165">
                <a:moveTo>
                  <a:pt x="0" y="0"/>
                </a:moveTo>
                <a:lnTo>
                  <a:pt x="8520166" y="0"/>
                </a:lnTo>
                <a:lnTo>
                  <a:pt x="8520166" y="7063992"/>
                </a:lnTo>
                <a:lnTo>
                  <a:pt x="0" y="706399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TextBox 4" id="4"/>
          <p:cNvSpPr txBox="true"/>
          <p:nvPr/>
        </p:nvSpPr>
        <p:spPr>
          <a:xfrm rot="0">
            <a:off x="1028700" y="1496800"/>
            <a:ext cx="16518717" cy="121081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535"/>
              </a:lnSpc>
            </a:pPr>
            <a:r>
              <a:rPr lang="en-US" sz="3599">
                <a:solidFill>
                  <a:srgbClr val="000000"/>
                </a:solidFill>
                <a:latin typeface="Futura"/>
                <a:ea typeface="Futura"/>
                <a:cs typeface="Futura"/>
                <a:sym typeface="Futura"/>
              </a:rPr>
              <a:t>Consolidar la estructura del proyecto (repositorios, ramas y backlog), definir épicas e historias de usuario y modelar la arquitectura inicial mediante UML.</a:t>
            </a:r>
          </a:p>
        </p:txBody>
      </p:sp>
      <p:sp>
        <p:nvSpPr>
          <p:cNvPr name="Freeform 5" id="5"/>
          <p:cNvSpPr/>
          <p:nvPr/>
        </p:nvSpPr>
        <p:spPr>
          <a:xfrm flipH="false" flipV="false" rot="0">
            <a:off x="14041751" y="6070911"/>
            <a:ext cx="4401773" cy="4257715"/>
          </a:xfrm>
          <a:custGeom>
            <a:avLst/>
            <a:gdLst/>
            <a:ahLst/>
            <a:cxnLst/>
            <a:rect r="r" b="b" t="t" l="l"/>
            <a:pathLst>
              <a:path h="4257715" w="4401773">
                <a:moveTo>
                  <a:pt x="0" y="0"/>
                </a:moveTo>
                <a:lnTo>
                  <a:pt x="4401773" y="0"/>
                </a:lnTo>
                <a:lnTo>
                  <a:pt x="4401773" y="4257715"/>
                </a:lnTo>
                <a:lnTo>
                  <a:pt x="0" y="425771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756790" y="3306300"/>
            <a:ext cx="7480425" cy="8953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300"/>
              </a:lnSpc>
            </a:pPr>
            <a:r>
              <a:rPr lang="en-US" sz="5000" b="true">
                <a:solidFill>
                  <a:srgbClr val="000000"/>
                </a:solidFill>
                <a:latin typeface="Futura Bold"/>
                <a:ea typeface="Futura Bold"/>
                <a:cs typeface="Futura Bold"/>
                <a:sym typeface="Futura Bold"/>
              </a:rPr>
              <a:t>¿Qué se planeó?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756790" y="4518217"/>
            <a:ext cx="12311841" cy="36854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820417" indent="-410209" lvl="1">
              <a:lnSpc>
                <a:spcPts val="4787"/>
              </a:lnSpc>
              <a:buFont typeface="Arial"/>
              <a:buChar char="•"/>
            </a:pPr>
            <a:r>
              <a:rPr lang="en-US" sz="3799">
                <a:solidFill>
                  <a:srgbClr val="000000"/>
                </a:solidFill>
                <a:latin typeface="Futura"/>
                <a:ea typeface="Futura"/>
                <a:cs typeface="Futura"/>
                <a:sym typeface="Futura"/>
              </a:rPr>
              <a:t>Crear estructura de ramas por ambientes</a:t>
            </a:r>
          </a:p>
          <a:p>
            <a:pPr algn="l" marL="820417" indent="-410209" lvl="1">
              <a:lnSpc>
                <a:spcPts val="4787"/>
              </a:lnSpc>
              <a:buFont typeface="Arial"/>
              <a:buChar char="•"/>
            </a:pPr>
            <a:r>
              <a:rPr lang="en-US" sz="3799">
                <a:solidFill>
                  <a:srgbClr val="000000"/>
                </a:solidFill>
                <a:latin typeface="Futura"/>
                <a:ea typeface="Futura"/>
                <a:cs typeface="Futura"/>
                <a:sym typeface="Futura"/>
              </a:rPr>
              <a:t>Definir épicas y separar HU por microservicios</a:t>
            </a:r>
          </a:p>
          <a:p>
            <a:pPr algn="l" marL="820417" indent="-410209" lvl="1">
              <a:lnSpc>
                <a:spcPts val="4787"/>
              </a:lnSpc>
              <a:buFont typeface="Arial"/>
              <a:buChar char="•"/>
            </a:pPr>
            <a:r>
              <a:rPr lang="en-US" sz="3799">
                <a:solidFill>
                  <a:srgbClr val="000000"/>
                </a:solidFill>
                <a:latin typeface="Futura"/>
                <a:ea typeface="Futura"/>
                <a:cs typeface="Futura"/>
                <a:sym typeface="Futura"/>
              </a:rPr>
              <a:t>Organizar backlog en Trello</a:t>
            </a:r>
          </a:p>
          <a:p>
            <a:pPr algn="l" marL="820417" indent="-410209" lvl="1">
              <a:lnSpc>
                <a:spcPts val="4787"/>
              </a:lnSpc>
              <a:buFont typeface="Arial"/>
              <a:buChar char="•"/>
            </a:pPr>
            <a:r>
              <a:rPr lang="en-US" sz="3799">
                <a:solidFill>
                  <a:srgbClr val="000000"/>
                </a:solidFill>
                <a:latin typeface="Futura"/>
                <a:ea typeface="Futura"/>
                <a:cs typeface="Futura"/>
                <a:sym typeface="Futura"/>
              </a:rPr>
              <a:t>Modelar Diagrama de Casos de Uso</a:t>
            </a:r>
          </a:p>
          <a:p>
            <a:pPr algn="l" marL="820417" indent="-410209" lvl="1">
              <a:lnSpc>
                <a:spcPts val="4787"/>
              </a:lnSpc>
              <a:buFont typeface="Arial"/>
              <a:buChar char="•"/>
            </a:pPr>
            <a:r>
              <a:rPr lang="en-US" sz="3799">
                <a:solidFill>
                  <a:srgbClr val="000000"/>
                </a:solidFill>
                <a:latin typeface="Futura"/>
                <a:ea typeface="Futura"/>
                <a:cs typeface="Futura"/>
                <a:sym typeface="Futura"/>
              </a:rPr>
              <a:t>Iniciar modelado de arquitectura (Componentes)</a:t>
            </a:r>
          </a:p>
          <a:p>
            <a:pPr algn="l">
              <a:lnSpc>
                <a:spcPts val="4913"/>
              </a:lnSpc>
            </a:pP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5269717" y="2911301"/>
            <a:ext cx="7748565" cy="7031823"/>
          </a:xfrm>
          <a:custGeom>
            <a:avLst/>
            <a:gdLst/>
            <a:ahLst/>
            <a:cxnLst/>
            <a:rect r="r" b="b" t="t" l="l"/>
            <a:pathLst>
              <a:path h="7031823" w="7748565">
                <a:moveTo>
                  <a:pt x="0" y="0"/>
                </a:moveTo>
                <a:lnTo>
                  <a:pt x="7748566" y="0"/>
                </a:lnTo>
                <a:lnTo>
                  <a:pt x="7748566" y="7031824"/>
                </a:lnTo>
                <a:lnTo>
                  <a:pt x="0" y="703182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6685099" y="133350"/>
            <a:ext cx="4917802" cy="8953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300"/>
              </a:lnSpc>
            </a:pPr>
            <a:r>
              <a:rPr lang="en-US" sz="5000" b="true">
                <a:solidFill>
                  <a:srgbClr val="000000"/>
                </a:solidFill>
                <a:latin typeface="Futura Bold"/>
                <a:ea typeface="Futura Bold"/>
                <a:cs typeface="Futura Bold"/>
                <a:sym typeface="Futura Bold"/>
              </a:rPr>
              <a:t>¿Qué se hizo?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232483" y="1253951"/>
            <a:ext cx="15823033" cy="13716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79"/>
              </a:lnSpc>
              <a:spcBef>
                <a:spcPct val="0"/>
              </a:spcBef>
            </a:pPr>
            <a:r>
              <a:rPr lang="en-US" sz="2899">
                <a:solidFill>
                  <a:srgbClr val="000000"/>
                </a:solidFill>
                <a:latin typeface="Futura"/>
                <a:ea typeface="Futura"/>
                <a:cs typeface="Futura"/>
                <a:sym typeface="Futura"/>
              </a:rPr>
              <a:t>Se reorganizó el Product Backlog en </a:t>
            </a:r>
            <a:r>
              <a:rPr lang="en-US" sz="2899">
                <a:solidFill>
                  <a:srgbClr val="000000"/>
                </a:solidFill>
                <a:latin typeface="Futura"/>
                <a:ea typeface="Futura"/>
                <a:cs typeface="Futura"/>
                <a:sym typeface="Futura"/>
              </a:rPr>
              <a:t>Trello separando las épicas e historias de usuario por microservicios (Product Service, Order Service, User Service y Frontend).</a:t>
            </a:r>
          </a:p>
          <a:p>
            <a:pPr algn="ctr">
              <a:lnSpc>
                <a:spcPts val="3479"/>
              </a:lnSpc>
              <a:spcBef>
                <a:spcPct val="0"/>
              </a:spcBef>
            </a:pPr>
            <a:r>
              <a:rPr lang="en-US" sz="2899">
                <a:solidFill>
                  <a:srgbClr val="000000"/>
                </a:solidFill>
                <a:latin typeface="Futura"/>
                <a:ea typeface="Futura"/>
                <a:cs typeface="Futura"/>
                <a:sym typeface="Futura"/>
              </a:rPr>
              <a:t> Esto permitió alinear las funcionalidades con la arquitectura distribuida del sistema.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5599520" y="1028700"/>
            <a:ext cx="7088960" cy="8819857"/>
          </a:xfrm>
          <a:custGeom>
            <a:avLst/>
            <a:gdLst/>
            <a:ahLst/>
            <a:cxnLst/>
            <a:rect r="r" b="b" t="t" l="l"/>
            <a:pathLst>
              <a:path h="8819857" w="7088960">
                <a:moveTo>
                  <a:pt x="0" y="0"/>
                </a:moveTo>
                <a:lnTo>
                  <a:pt x="7088960" y="0"/>
                </a:lnTo>
                <a:lnTo>
                  <a:pt x="7088960" y="8819857"/>
                </a:lnTo>
                <a:lnTo>
                  <a:pt x="0" y="881985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4565228" y="133350"/>
            <a:ext cx="9157545" cy="8953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300"/>
              </a:lnSpc>
            </a:pPr>
            <a:r>
              <a:rPr lang="en-US" sz="5000" b="true">
                <a:solidFill>
                  <a:srgbClr val="000000"/>
                </a:solidFill>
                <a:latin typeface="Futura Bold"/>
                <a:ea typeface="Futura Bold"/>
                <a:cs typeface="Futura Bold"/>
                <a:sym typeface="Futura Bold"/>
              </a:rPr>
              <a:t>Diagrama de componentes 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5773625" y="1050136"/>
            <a:ext cx="6333184" cy="8953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300"/>
              </a:lnSpc>
            </a:pPr>
            <a:r>
              <a:rPr lang="en-US" sz="5000" b="true">
                <a:solidFill>
                  <a:srgbClr val="000000"/>
                </a:solidFill>
                <a:latin typeface="Futura Bold"/>
                <a:ea typeface="Futura Bold"/>
                <a:cs typeface="Futura Bold"/>
                <a:sym typeface="Futura Bold"/>
              </a:rPr>
              <a:t>¿Qué NO se hizo?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028700" y="2882504"/>
            <a:ext cx="15823033" cy="31908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1101082" indent="-550541" lvl="1">
              <a:lnSpc>
                <a:spcPts val="6119"/>
              </a:lnSpc>
              <a:buFont typeface="Arial"/>
              <a:buChar char="•"/>
            </a:pPr>
            <a:r>
              <a:rPr lang="en-US" sz="5099">
                <a:solidFill>
                  <a:srgbClr val="000000"/>
                </a:solidFill>
                <a:latin typeface="Futura"/>
                <a:ea typeface="Futura"/>
                <a:cs typeface="Futura"/>
                <a:sym typeface="Futura"/>
              </a:rPr>
              <a:t>No se inició implementación de endpoints</a:t>
            </a:r>
          </a:p>
          <a:p>
            <a:pPr algn="just" marL="1101082" indent="-550541" lvl="1">
              <a:lnSpc>
                <a:spcPts val="6119"/>
              </a:lnSpc>
              <a:buFont typeface="Arial"/>
              <a:buChar char="•"/>
            </a:pPr>
            <a:r>
              <a:rPr lang="en-US" sz="5099">
                <a:solidFill>
                  <a:srgbClr val="000000"/>
                </a:solidFill>
                <a:latin typeface="Futura"/>
                <a:ea typeface="Futura"/>
                <a:cs typeface="Futura"/>
                <a:sym typeface="Futura"/>
              </a:rPr>
              <a:t>No se integró comunicación entre servicios</a:t>
            </a:r>
          </a:p>
          <a:p>
            <a:pPr algn="just" marL="1101082" indent="-550541" lvl="1">
              <a:lnSpc>
                <a:spcPts val="6119"/>
              </a:lnSpc>
              <a:buFont typeface="Arial"/>
              <a:buChar char="•"/>
            </a:pPr>
            <a:r>
              <a:rPr lang="en-US" sz="5099">
                <a:solidFill>
                  <a:srgbClr val="000000"/>
                </a:solidFill>
                <a:latin typeface="Futura"/>
                <a:ea typeface="Futura"/>
                <a:cs typeface="Futura"/>
                <a:sym typeface="Futura"/>
              </a:rPr>
              <a:t>No se implementó autenticación real</a:t>
            </a:r>
          </a:p>
          <a:p>
            <a:pPr algn="ctr">
              <a:lnSpc>
                <a:spcPts val="6119"/>
              </a:lnSpc>
              <a:spcBef>
                <a:spcPct val="0"/>
              </a:spcBef>
            </a:pPr>
          </a:p>
        </p:txBody>
      </p:sp>
      <p:sp>
        <p:nvSpPr>
          <p:cNvPr name="Freeform 4" id="4"/>
          <p:cNvSpPr/>
          <p:nvPr/>
        </p:nvSpPr>
        <p:spPr>
          <a:xfrm flipH="false" flipV="false" rot="10433869">
            <a:off x="10818460" y="6841391"/>
            <a:ext cx="8520165" cy="7063992"/>
          </a:xfrm>
          <a:custGeom>
            <a:avLst/>
            <a:gdLst/>
            <a:ahLst/>
            <a:cxnLst/>
            <a:rect r="r" b="b" t="t" l="l"/>
            <a:pathLst>
              <a:path h="7063992" w="8520165">
                <a:moveTo>
                  <a:pt x="0" y="0"/>
                </a:moveTo>
                <a:lnTo>
                  <a:pt x="8520166" y="0"/>
                </a:lnTo>
                <a:lnTo>
                  <a:pt x="8520166" y="7063992"/>
                </a:lnTo>
                <a:lnTo>
                  <a:pt x="0" y="706399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5" id="5"/>
          <p:cNvSpPr/>
          <p:nvPr/>
        </p:nvSpPr>
        <p:spPr>
          <a:xfrm flipH="false" flipV="false" rot="0">
            <a:off x="14041751" y="6070911"/>
            <a:ext cx="4401773" cy="4257715"/>
          </a:xfrm>
          <a:custGeom>
            <a:avLst/>
            <a:gdLst/>
            <a:ahLst/>
            <a:cxnLst/>
            <a:rect r="r" b="b" t="t" l="l"/>
            <a:pathLst>
              <a:path h="4257715" w="4401773">
                <a:moveTo>
                  <a:pt x="0" y="0"/>
                </a:moveTo>
                <a:lnTo>
                  <a:pt x="4401773" y="0"/>
                </a:lnTo>
                <a:lnTo>
                  <a:pt x="4401773" y="4257715"/>
                </a:lnTo>
                <a:lnTo>
                  <a:pt x="0" y="425771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518062" y="3754473"/>
            <a:ext cx="8025969" cy="16363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0920"/>
              </a:lnSpc>
              <a:spcBef>
                <a:spcPct val="0"/>
              </a:spcBef>
            </a:pPr>
            <a:r>
              <a:rPr lang="en-US" b="true" sz="10400" u="none">
                <a:solidFill>
                  <a:srgbClr val="000000"/>
                </a:solidFill>
                <a:latin typeface="Futura Bold"/>
                <a:ea typeface="Futura Bold"/>
                <a:cs typeface="Futura Bold"/>
                <a:sym typeface="Futura Bold"/>
              </a:rPr>
              <a:t>¡Gracias!</a:t>
            </a:r>
          </a:p>
        </p:txBody>
      </p:sp>
      <p:sp>
        <p:nvSpPr>
          <p:cNvPr name="Freeform 3" id="3"/>
          <p:cNvSpPr/>
          <p:nvPr/>
        </p:nvSpPr>
        <p:spPr>
          <a:xfrm flipH="false" flipV="false" rot="-7580272">
            <a:off x="12399305" y="-1820503"/>
            <a:ext cx="10422685" cy="8641353"/>
          </a:xfrm>
          <a:custGeom>
            <a:avLst/>
            <a:gdLst/>
            <a:ahLst/>
            <a:cxnLst/>
            <a:rect r="r" b="b" t="t" l="l"/>
            <a:pathLst>
              <a:path h="8641353" w="10422685">
                <a:moveTo>
                  <a:pt x="0" y="0"/>
                </a:moveTo>
                <a:lnTo>
                  <a:pt x="10422685" y="0"/>
                </a:lnTo>
                <a:lnTo>
                  <a:pt x="10422685" y="8641353"/>
                </a:lnTo>
                <a:lnTo>
                  <a:pt x="0" y="864135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4" id="4"/>
          <p:cNvSpPr/>
          <p:nvPr/>
        </p:nvSpPr>
        <p:spPr>
          <a:xfrm flipH="false" flipV="false" rot="0">
            <a:off x="10910125" y="1028700"/>
            <a:ext cx="6349175" cy="5229411"/>
          </a:xfrm>
          <a:custGeom>
            <a:avLst/>
            <a:gdLst/>
            <a:ahLst/>
            <a:cxnLst/>
            <a:rect r="r" b="b" t="t" l="l"/>
            <a:pathLst>
              <a:path h="5229411" w="6349175">
                <a:moveTo>
                  <a:pt x="0" y="0"/>
                </a:moveTo>
                <a:lnTo>
                  <a:pt x="6349175" y="0"/>
                </a:lnTo>
                <a:lnTo>
                  <a:pt x="6349175" y="5229411"/>
                </a:lnTo>
                <a:lnTo>
                  <a:pt x="0" y="522941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DAHCRf5fErw</dc:identifier>
  <dcterms:modified xsi:type="dcterms:W3CDTF">2011-08-01T06:04:30Z</dcterms:modified>
  <cp:revision>1</cp:revision>
  <dc:title>WEEKLY 3</dc:title>
</cp:coreProperties>
</file>